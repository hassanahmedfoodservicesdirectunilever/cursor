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Trainer Deck (45 min): Cursor AI + MCP Enablement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1556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45678"/>
                </a:solidFill>
              </a:rPr>
              <a:t>Facilitator version with talking points, pacing, and troubleshooting cues.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Audience: developers and team leads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Goal: connect tools, run safe workflows, publish first skills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Format: short demo + labs + troubleshooting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Updated: 2026-02-10</a:t>
            </a:r>
          </a:p>
        </p:txBody>
      </p:sp>
      <p:pic>
        <p:nvPicPr>
          <p:cNvPr id="5" name="Picture 4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45-minute trainer run-of-show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332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0-5 min: explain MCP in simple terms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5-12 min: show Top MCP and Top Skills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12-22 min: live setup in Cursor settings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22-34 min: Jira/Figma/Bitbucket connection tests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34-40 min: build one simple agent skill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40-45 min: common errors, Q&amp;A,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What to teach first (order matters)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1) Top MCP tools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2) Top agent skills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3) Prompt formula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4) Do/Don't safe rules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5) Setup steps and command practice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6) Common errors and quick fixes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MCP tools for development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Use these in your pilot first: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Bitbucket/Git, Jira, Figma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Docs MCP, CI/CD MCP, Database MCP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Reason: fast wins and clear ROI</a:t>
            </a:r>
          </a:p>
        </p:txBody>
      </p:sp>
      <p:pic>
        <p:nvPicPr>
          <p:cNvPr id="4" name="Picture 3" descr="top_mcp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starter agent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Required first set: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jira-ticket-triage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figma-handoff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pr-quality-check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release-note-writer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bug-root-cause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test-case-generator</a:t>
            </a:r>
          </a:p>
        </p:txBody>
      </p:sp>
      <p:pic>
        <p:nvPicPr>
          <p:cNvPr id="4" name="Picture 3" descr="top_agent_sk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Prompt formula (repeat every demo)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Trainer talking line: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"Context + Task + Constraints + Output format"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Ask participants to use this format in all labs.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This reduces confusion and bad outputs.</a:t>
            </a:r>
          </a:p>
        </p:txBody>
      </p:sp>
      <p:pic>
        <p:nvPicPr>
          <p:cNvPr id="4" name="Picture 3" descr="prompt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Do and Don't (safety first)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Call this out clearly before labs: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Do: use read-only first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Do: request approval before write actions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Don't: use admin tokens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Don't: skip review/checklist</a:t>
            </a:r>
          </a:p>
        </p:txBody>
      </p:sp>
      <p:pic>
        <p:nvPicPr>
          <p:cNvPr id="4" name="Picture 3" descr="do_d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Lab setup commands (copy and run)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11155680" cy="498348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mkdir -p ~/cursor-mcp-training/{servers,skills,logs} &amp;&amp; cd ~/cursor-mcp-training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python3 -m venv .venv &amp;&amp; source .venv/bin/activate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 -m pip install --upgrade pip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pip install mcp httpx python-dotenv pyyaml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EOF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Live demo: Cursor settings -&gt;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Step 1: open Settings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Step 2: Features -&gt; MCP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Step 3: switch MCP to ON</a:t>
            </a:r>
          </a:p>
          <a:p>
            <a:pPr>
              <a:spcAft>
                <a:spcPts val="800"/>
              </a:spcAft>
              <a:defRPr sz="2400">
                <a:solidFill>
                  <a:srgbClr val="233554"/>
                </a:solidFill>
              </a:defRPr>
            </a:pPr>
            <a:r>
              <a:t>Step 4: open mcp.json</a:t>
            </a:r>
          </a:p>
        </p:txBody>
      </p:sp>
      <p:pic>
        <p:nvPicPr>
          <p:cNvPr id="4" name="Picture 3" descr="cursor_setting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7086600" cy="39862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Live demo: mcp.json content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0240"/>
            <a:ext cx="4754880" cy="438912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"mcpServers":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"jira": {"command":"python","args":["servers/jira_server.py"],"envFile":".env"},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"figma": {"command":"python","args":["servers/figma_server.py"],"envFile":".env"},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"bitbucket": {"command":"python","args":["servers/bitbucket_server.py"],"envFile":".env"}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# Save and restart Cursor</a:t>
            </a:r>
          </a:p>
        </p:txBody>
      </p:sp>
      <p:pic>
        <p:nvPicPr>
          <p:cNvPr id="4" name="Picture 3" descr="cursor_mcp_json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Live demo: test connections (Jira/Figma/Bitbucket)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4754880" cy="448056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# Jira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curl -s -u "$JIRA_EMAIL:$JIRA_API_TOKEN" "$JIRA_BASE_URL/rest/api/3/myself" | jq '.displayName'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# Figma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curl -s -H "X-Figma-Token: $FIGMA_TOKEN" "https://api.figma.com/v1/files/$FIGMA_FILE_KEY" | jq '.name'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# Bitbucket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200">
                <a:solidFill>
                  <a:srgbClr val="E4ECFC"/>
                </a:solidFill>
                <a:latin typeface="DejaVu Sans Mono"/>
              </a:defRPr>
            </a:pPr>
            <a:r>
              <a:t>curl -s -u "$BITBUCKET_USERNAME:$BITBUCKET_APP_PASSWORD" "https://api.bitbucket.org/2.0/repositories/$BITBUCKET_WORKSPACE" | jq '.values[0].full_name'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Live support slide: common errors and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Use this during Q&amp;A: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401 -&gt; token issue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403 -&gt; permission issue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404 -&gt; wrong key/url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MCP not listed -&gt; restart Cursor</a:t>
            </a:r>
          </a:p>
        </p:txBody>
      </p:sp>
      <p:pic>
        <p:nvPicPr>
          <p:cNvPr id="4" name="Picture 3" descr="common_errors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Coach this habit: 5-minute daily routine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Ask every participant to follow this daily.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This is the easiest way to keep adoption active.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Review weekly and celebrate improvements.</a:t>
            </a:r>
          </a:p>
        </p:txBody>
      </p:sp>
      <p:pic>
        <p:nvPicPr>
          <p:cNvPr id="4" name="Picture 3" descr="five_min_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Risk controls and 30-60-90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3554"/>
                </a:solidFill>
              </a:defRPr>
            </a:pPr>
            <a:r>
              <a:t>Must-have controls: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Low-access tokens + human approvals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Audit logs + weekly KPI review</a:t>
            </a:r>
          </a:p>
          <a:p>
            <a:pPr>
              <a:spcAft>
                <a:spcPts val="800"/>
              </a:spcAft>
              <a:defRPr sz="1900">
                <a:solidFill>
                  <a:srgbClr val="233554"/>
                </a:solidFill>
              </a:defRPr>
            </a:pPr>
            <a:r>
              <a:t>Rollout: 0-30 connect, 31-60 standardize, 61-90 scale.</a:t>
            </a:r>
          </a:p>
        </p:txBody>
      </p:sp>
      <p:pic>
        <p:nvPicPr>
          <p:cNvPr id="4" name="Picture 3" descr="roadmap_30_60_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Trainer checklist (before, during, after)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Before: test tokens and demo environment.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During: keep prompts simple and repeat formula.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During: pause at each error and show quick fix.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After: share participant deck and runbook.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After: schedule weekly office hours.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Q&amp;A</a:t>
            </a:r>
          </a:p>
        </p:txBody>
      </p:sp>
      <p:pic>
        <p:nvPicPr>
          <p:cNvPr id="4" name="Picture 3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